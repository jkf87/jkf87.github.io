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Inter"/>
              </a:defRPr>
            </a:pPr>
            <a:r>
              <a:t>에이전트 메모리를 SQLite에서 LanceDB로 옮긴 실전 기록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023360"/>
            <a:ext cx="2011680" cy="45720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041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Inter"/>
              </a:defRPr>
            </a:pPr>
            <a:r>
              <a:t>FRAME 01 ·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Inter"/>
              </a:defRPr>
            </a:pPr>
            <a:r>
              <a:t>2026-05-22 · OpenClaw Meetup · conanssam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8288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0" y="21945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0" y="25603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66960" y="18288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0" y="21945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0" y="25603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332720" y="18288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32720" y="21945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32720" y="25603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698480" y="18288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1945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98480" y="25603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064240" y="18288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064240" y="21945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064240" y="25603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02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기억 단절 — AI 에이전트가 문맥을 잃을 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20040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Inter"/>
              </a:defRPr>
            </a:pPr>
            <a:r>
              <a:t>기억 단절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세션 재시작마다 컨텍스트 초기화</a:t>
            </a:r>
            <a:br/>
            <a:r>
              <a:t>이전 대화·결과에 접근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3200400"/>
          </a:xfrm>
          <a:prstGeom prst="roundRect">
            <a:avLst/>
          </a:prstGeom>
          <a:solidFill>
            <a:srgbClr val="F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Inter"/>
              </a:defRPr>
            </a:pPr>
            <a:r>
              <a:t>컨텍스트 낭비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반복 질문·중복 작업 발생</a:t>
            </a:r>
            <a:br/>
            <a:r>
              <a:t>에이전트가 같은 실수 반복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320040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Inter"/>
              </a:defRPr>
            </a:pPr>
            <a:r>
              <a:t>확장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926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키워드 매칭만 가능 → 의미 검색 불가</a:t>
            </a:r>
            <a:br/>
            <a:r>
              <a:t>SQLite FTS5 회수 정확도 52%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solidFill>
            <a:srgbClr val="FB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875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Inter"/>
              </a:defRPr>
            </a:pPr>
            <a:r>
              <a:t>KEY INSIGHT: LOCOMO 벤치마크 기준 memory-core 회수 정확도 52%, 평균 지연 8.4초 (출처: lancedb.com/blog)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03 ·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메모리 시스템 지형도 — 레이어가 다르다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Honcho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011680"/>
            <a:ext cx="15544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앱/SDK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대화 기반 사용자 모델링</a:t>
            </a:r>
            <a:br/>
            <a:r>
              <a:t>세션 컨텍스트 지속 추적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F5E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Hindsight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011680"/>
            <a:ext cx="15544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연구/아키텍처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4-네트워크 메모리 (Latimer·Boschi)</a:t>
            </a:r>
            <a:br/>
            <a:r>
              <a:t>retain/recall/reflect 설계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Hunch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4389120"/>
            <a:ext cx="15544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개인 지식 회상형</a:t>
            </a:r>
            <a:br/>
            <a:r>
              <a:t>사용자 중심 메모리 비서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029200" cy="2011680"/>
          </a:xfrm>
          <a:prstGeom prst="roundRect">
            <a:avLst/>
          </a:prstGeom>
          <a:solidFill>
            <a:srgbClr val="E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OpenClaw</a:t>
            </a:r>
            <a:br/>
            <a:r>
              <a:t>+ LanceDB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389120"/>
            <a:ext cx="15544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389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인프라/엔진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0292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bge-m3 1024차원 로컬 임베딩</a:t>
            </a:r>
            <a:br/>
            <a:r>
              <a:t>autoCapture/autoRecall, 11,088개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04 ·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SQLite FTS5 vs LanceDB — 능력의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657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1919"/>
                </a:solidFill>
                <a:latin typeface="Inter"/>
              </a:defRPr>
            </a:pPr>
            <a:r>
              <a:t>SQLite FTS5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• BM25 키워드 전문검색</a:t>
            </a:r>
            <a:br/>
            <a:r>
              <a:t>• 의미 검색 불가</a:t>
            </a:r>
            <a:br/>
            <a:r>
              <a:t>• 정확한 단어가 있어야 검색됨</a:t>
            </a:r>
            <a:br/>
            <a:r>
              <a:t>• 초경량, 설정 간단</a:t>
            </a:r>
            <a:br/>
            <a:r>
              <a:t>• 회수 정확도 52%, 지연 8.4s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365760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1919"/>
                </a:solidFill>
                <a:latin typeface="Inter"/>
              </a:defRPr>
            </a:pPr>
            <a:r>
              <a:t>LanceDB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83464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• 벡터 ANN + BM25 FTS + 하이브리드</a:t>
            </a:r>
            <a:br/>
            <a:r>
              <a:t>• 의미 검색 가능</a:t>
            </a:r>
            <a:br/>
            <a:r>
              <a:t>• 맥락까지 이해하는 회수</a:t>
            </a:r>
            <a:br/>
            <a:r>
              <a:t>• 로컬-first, 서버 불필요</a:t>
            </a:r>
            <a:br/>
            <a:r>
              <a:t>• 회수 정확도 76%, 지연 4.8s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solidFill>
            <a:srgbClr val="FB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9618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44444"/>
                </a:solidFill>
                <a:latin typeface="Inter"/>
              </a:defRPr>
            </a:pPr>
            <a:r>
              <a:t>KEY INSIGHT: "키워드만 찾을지, 맥락까지 이해할지의 차이 — 속도 경쟁이 아니라 능력의 차이"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05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설정 — ollama + bge-m3 로컬 임베딩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486400" cy="3657600"/>
          </a:xfrm>
          <a:prstGeom prst="roundRect">
            <a:avLst/>
          </a:prstGeom>
          <a:solidFill>
            <a:srgbClr val="D3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  <a:latin typeface="Inter"/>
              </a:defRPr>
            </a:pPr>
            <a:r>
              <a:t>provider: ollama (로컬)</a:t>
            </a:r>
            <a:br/>
            <a:r>
              <a:t>model: bge-m3</a:t>
            </a:r>
            <a:br/>
            <a:r>
              <a:t>dimensions: 1024</a:t>
            </a:r>
            <a:br/>
            <a:r>
              <a:t>autoRecall: true</a:t>
            </a:r>
            <a:br/>
            <a:r>
              <a:t>autoCapture: true</a:t>
            </a:r>
            <a:br/>
            <a:r>
              <a:t>dbPath: ~/.openclaw/memory/lancedb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828800"/>
            <a:ext cx="4572000" cy="365760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선택 이유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• 외부 API 의존 없이 로컬 임베딩</a:t>
            </a:r>
            <a:br/>
            <a:r>
              <a:t>• 비용 발생 없음</a:t>
            </a:r>
            <a:br/>
            <a:r>
              <a:t>• ollama만 설치하면 즉시 사용</a:t>
            </a:r>
            <a:br/>
            <a:r>
              <a:t>• 중단 없이 24시간 운영</a:t>
            </a:r>
            <a:br/>
            <a:r>
              <a:t>• 전 봇 공통 설정 확인 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06 ·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디버깅 여정 — ltm stats = 0에서 시작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48640" cy="5486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Inter"/>
              </a:defRPr>
            </a:pPr>
            <a:r>
              <a:t>ltm stats → 0개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Inter"/>
              </a:defRPr>
            </a:pPr>
            <a:r>
              <a:t>플러그인 설치 직후 메모리 0개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71800"/>
            <a:ext cx="548640" cy="5486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Inter"/>
              </a:defRPr>
            </a:pPr>
            <a:r>
              <a:t>config 재확인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Inter"/>
              </a:defRPr>
            </a:pPr>
            <a:r>
              <a:t>설정 파일 점검, 재시작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48640" cy="5486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Inter"/>
              </a:defRPr>
            </a:pPr>
            <a:r>
              <a:t>768 vs 1024 스키마 충돌 발견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Inter"/>
              </a:defRPr>
            </a:pPr>
            <a:r>
              <a:t>기존 2월 임베딩과 bge-m3 차원 불일치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257800"/>
            <a:ext cx="548640" cy="5486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Inter"/>
              </a:defRPr>
            </a:pPr>
            <a:r>
              <a:t>해결: import-memory-core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Inter"/>
              </a:defRPr>
            </a:pPr>
            <a:r>
              <a:t>차원 재인덱싱 → 11,088개 이전 성공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828800"/>
            <a:ext cx="5029200" cy="3657600"/>
          </a:xfrm>
          <a:prstGeom prst="roundRect">
            <a:avLst/>
          </a:prstGeom>
          <a:solidFill>
            <a:srgbClr val="FB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1919"/>
                </a:solidFill>
                <a:latin typeface="Inter"/>
              </a:defRPr>
            </a:pPr>
            <a:r>
              <a:t>차원 충돌 해결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43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44444"/>
                </a:solidFill>
                <a:latin typeface="Inter"/>
              </a:defRPr>
            </a:pPr>
            <a:r>
              <a:t>기존: 768차원 임베딩 (2월 생성)</a:t>
            </a:r>
            <a:br/>
            <a:r>
              <a:t>  ↓</a:t>
            </a:r>
            <a:br/>
            <a:r>
              <a:t>bge-m3: 1024차원</a:t>
            </a:r>
            <a:br/>
            <a:r>
              <a:t>  ↓</a:t>
            </a:r>
            <a:br/>
            <a:r>
              <a:t>재인덱싱 → 11,088개 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07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137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nter"/>
              </a:defRPr>
            </a:pPr>
            <a:r>
              <a:t>마이그레이션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C542"/>
                </a:solidFill>
                <a:latin typeface="Inter"/>
              </a:defRPr>
            </a:pPr>
            <a:r>
              <a:t>11,088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Inter"/>
              </a:defRPr>
            </a:pPr>
            <a:r>
              <a:t>개 메모리 이전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0E17"/>
                </a:solidFill>
                <a:latin typeface="Inter"/>
              </a:defRPr>
            </a:pPr>
            <a: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Inter"/>
              </a:defRPr>
            </a:pPr>
            <a:r>
              <a:t>회수 정확도</a:t>
            </a:r>
            <a:br/>
            <a:r>
              <a:t>(+24%p)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114800"/>
            <a:ext cx="2560320" cy="201168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0E17"/>
                </a:solidFill>
                <a:latin typeface="Inter"/>
              </a:defRPr>
            </a:pPr>
            <a:r>
              <a:t>4.8s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Inter"/>
              </a:defRPr>
            </a:pPr>
            <a:r>
              <a:t>평균 회수 지연</a:t>
            </a:r>
            <a:br/>
            <a:r>
              <a:t>(-43%)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2560320" cy="2011680"/>
          </a:xfrm>
          <a:prstGeom prst="roundRect">
            <a:avLst/>
          </a:prstGeom>
          <a:solidFill>
            <a:srgbClr val="E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0E17"/>
                </a:solidFill>
                <a:latin typeface="Inter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Inter"/>
              </a:defRPr>
            </a:pPr>
            <a:r>
              <a:t>Pro 정확도</a:t>
            </a:r>
            <a:br/>
            <a:r>
              <a:t>(지연 14.3s)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114800"/>
            <a:ext cx="2560320" cy="2011680"/>
          </a:xfrm>
          <a:prstGeom prst="roundRect">
            <a:avLst/>
          </a:prstGeom>
          <a:solidFill>
            <a:srgbClr val="D3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4297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0E17"/>
                </a:solidFill>
                <a:latin typeface="Inter"/>
              </a:defRPr>
            </a:pPr>
            <a:r>
              <a:t>60MB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Inter"/>
              </a:defRPr>
            </a:pPr>
            <a:r>
              <a:t>LanceDB 크기</a:t>
            </a:r>
            <a:br/>
            <a:r>
              <a:t>로컬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Inter"/>
              </a:defRPr>
            </a:pPr>
            <a:r>
              <a:t>출처: lancedb.com/blog · LOCOMO 100샘플 · GPT-4.1-mini · end-to-end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08 ·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레이어 구분 — 같은 경쟁 상대가 아니다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20040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20116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인프라 레이어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91919"/>
                </a:solidFill>
                <a:latin typeface="Inter"/>
              </a:defRPr>
            </a:pPr>
            <a:r>
              <a:t>LanceDB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• 로컬 벡터 검색 엔진</a:t>
            </a:r>
            <a:br/>
            <a:r>
              <a:t>• retain/recall 파이프라인 실전 구현</a:t>
            </a:r>
            <a:br/>
            <a:r>
              <a:t>• 의미 + 키워드 하이브리드 검색</a:t>
            </a:r>
            <a:br/>
            <a:r>
              <a:t>• OpenClaw memory 플러그인으로 통합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3200400"/>
          </a:xfrm>
          <a:prstGeom prst="roundRect">
            <a:avLst/>
          </a:prstGeom>
          <a:solidFill>
            <a:srgbClr val="E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2194560"/>
            <a:ext cx="2011680" cy="32004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1945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연구/아키텍처 레이어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91919"/>
                </a:solidFill>
                <a:latin typeface="Inter"/>
              </a:defRPr>
            </a:pPr>
            <a:r>
              <a:t>Hindsight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• 4-네트워크 메모리 아키텍처</a:t>
            </a:r>
            <a:br/>
            <a:r>
              <a:t>• world facts / experiences / summaries / beliefs</a:t>
            </a:r>
            <a:br/>
            <a:r>
              <a:t>• retain / recall / reflect 설계</a:t>
            </a:r>
            <a:br/>
            <a:r>
              <a:t>• 논문 프로토타입 (arxiv:2512.12818)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solidFill>
            <a:srgbClr val="FBF3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44444"/>
                </a:solidFill>
                <a:latin typeface="Inter"/>
              </a:defRPr>
            </a:pPr>
            <a:r>
              <a:t>LanceDB는 엔진이고, Hindsight는 그 위에서 돌아가는 아키텍처</a:t>
            </a:r>
            <a:br/>
            <a:r>
              <a:t>"승자 비교가 아니다 — 레이어가 다르다"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09 ·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논문 자동화 파이프라인으로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200400"/>
          </a:xfrm>
          <a:prstGeom prst="roundRect">
            <a:avLst/>
          </a:prstGeom>
          <a:solidFill>
            <a:srgbClr val="D3E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11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Inter"/>
              </a:defRPr>
            </a:pPr>
            <a:r>
              <a:t>로컬 메모리 기반 회수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Inter"/>
              </a:defRPr>
            </a:pPr>
            <a:r>
              <a:t>LanceDB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206240"/>
            <a:ext cx="1645920" cy="32004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운영 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F11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560320" cy="320040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11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Inter"/>
              </a:defRPr>
            </a:pPr>
            <a:r>
              <a:t>에이전트 작업 이력 자동 축적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Inter"/>
              </a:defRPr>
            </a:pPr>
            <a:r>
              <a:t>autoCapture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4206240"/>
            <a:ext cx="1645920" cy="32004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자동화 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F11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11680"/>
            <a:ext cx="2560320" cy="3200400"/>
          </a:xfrm>
          <a:prstGeom prst="roundRect">
            <a:avLst/>
          </a:prstGeom>
          <a:solidFill>
            <a:srgbClr val="E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11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Inter"/>
              </a:defRPr>
            </a:pPr>
            <a:r>
              <a:t>논문 조사 / 요약 / 정리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Inter"/>
              </a:defRPr>
            </a:pPr>
            <a:r>
              <a:t>자동화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206240"/>
            <a:ext cx="1645920" cy="32004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반자동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F11FF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011680"/>
            <a:ext cx="2560320" cy="3200400"/>
          </a:xfrm>
          <a:prstGeom prst="roundRect">
            <a:avLst/>
          </a:prstGeom>
          <a:solidFill>
            <a:srgbClr val="D3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11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743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Inter"/>
              </a:defRPr>
            </a:pPr>
            <a:r>
              <a:t>Zotero 연동으로 서베이 완성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Inter"/>
              </a:defRPr>
            </a:pPr>
            <a:r>
              <a:t>워크플로우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206240"/>
            <a:ext cx="1645920" cy="32004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구축 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Inter"/>
              </a:defRPr>
            </a:pPr>
            <a:r>
              <a:t>FRAME 10 · INFRA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73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99999"/>
                </a:solidFill>
                <a:latin typeface="Inter"/>
              </a:defRPr>
            </a:pPr>
            <a:r>
              <a:t>OpenClaw Memory · LanceDB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91919"/>
                </a:solidFill>
                <a:latin typeface="Inter"/>
              </a:defRPr>
            </a:pPr>
            <a:r>
              <a:t>인프라 — 액티브 메모리 + LLM Wiki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657600"/>
          </a:xfrm>
          <a:prstGeom prst="roundRect">
            <a:avLst/>
          </a:prstGeom>
          <a:solidFill>
            <a:srgbClr val="F4E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Inter"/>
              </a:defRPr>
            </a:pPr>
            <a:r>
              <a:t>Active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• DM에서 자동 관련 기억 검색</a:t>
            </a:r>
            <a:br/>
            <a:r>
              <a:t>• 최대 220자 요약으로 컨텍스트 주입</a:t>
            </a:r>
            <a:br/>
            <a:r>
              <a:t>• 15초 타임아웃, GLM-4.7-flash 폴백</a:t>
            </a:r>
            <a:br/>
            <a:r>
              <a:t>• queryMode: recent</a:t>
            </a:r>
            <a:br/>
            <a:r>
              <a:t>• 그룹 채팅에서는 미작동 (direct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3657600"/>
          </a:xfrm>
          <a:prstGeom prst="roundRect">
            <a:avLst/>
          </a:prstGeom>
          <a:solidFill>
            <a:srgbClr val="D3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Inter"/>
              </a:defRPr>
            </a:pPr>
            <a:r>
              <a:t>LLM Wiki (Bridge)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Inter"/>
              </a:defRPr>
            </a:pPr>
            <a:r>
              <a:t>• 1,880 소스 페이지 (bridge 모드)</a:t>
            </a:r>
            <a:br/>
            <a:r>
              <a:t>• 네이티브 217 + 브릿지 1,644 + 이벤트 17</a:t>
            </a:r>
            <a:br/>
            <a:r>
              <a:t>• concepts/entities/synthesis: 0 (미생성)</a:t>
            </a:r>
            <a:br/>
            <a:r>
              <a:t>• Obsidian CLI 미설치 경고</a:t>
            </a:r>
            <a:br/>
            <a:r>
              <a:t>• private memory-core 접근 활성화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Inter"/>
              </a:defRPr>
            </a:pPr>
            <a:r>
              <a:t>오늘 쌓은 메모리가</a:t>
            </a:r>
            <a:br/>
            <a:r>
              <a:t>내일의 연구 자산이 된다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474720"/>
            <a:ext cx="3291840" cy="182880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기억하는 AI가 더 잘 일한다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Inter"/>
              </a:defRPr>
            </a:pPr>
            <a:r>
              <a:t>의미 검색으로 컨텍스트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474720"/>
            <a:ext cx="3291840" cy="182880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로컬-first, 비용 제로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Inter"/>
              </a:defRPr>
            </a:pPr>
            <a:r>
              <a:t>ollama + bge-m3로 외부 API 의존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474720"/>
            <a:ext cx="3291840" cy="1828800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6576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인프라에서 파이프라인까지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97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DDD"/>
                </a:solidFill>
                <a:latin typeface="Inter"/>
              </a:defRPr>
            </a:pPr>
            <a:r>
              <a:t>메모리 → 논문 자동화로 확장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Inter"/>
              </a:defRPr>
            </a:pPr>
            <a:r>
              <a:t>2026-05-22 · OpenClaw Meetup · conanssam · github.com/openclaw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72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8229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1887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8229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11887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20" y="4572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88720" y="8229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88720" y="11887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54480" y="4572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54480" y="8229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54480" y="11887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20240" y="45720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920240" y="82296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920240" y="1188720"/>
            <a:ext cx="109728" cy="109728"/>
          </a:xfrm>
          <a:prstGeom prst="roundRect">
            <a:avLst/>
          </a:prstGeom>
          <a:solidFill>
            <a:srgbClr val="9F1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