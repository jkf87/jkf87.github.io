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8B5CF6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2743200"/>
            <a:ext cx="4572000" cy="457200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1371600"/>
            <a:ext cx="7619695" cy="4114800"/>
          </a:xfrm>
          <a:prstGeom prst="roundRect">
            <a:avLst>
              <a:gd name="adj" fmla="val 5000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1828800"/>
            <a:ext cx="6705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 Light"/>
              </a:defRPr>
            </a:pPr>
            <a:r>
              <a:t>OpenClaw Memory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108960"/>
            <a:ext cx="2133295" cy="381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3474720"/>
            <a:ext cx="6705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0E0F0"/>
                </a:solidFill>
                <a:latin typeface="Segoe UI"/>
              </a:defRPr>
            </a:pPr>
            <a:r>
              <a:t>AI 에이전트가 기억하는 5개 레이어 아키텍처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297680"/>
            <a:ext cx="6705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7E8F9"/>
                </a:solidFill>
                <a:latin typeface="Segoe UI"/>
              </a:defRPr>
            </a:pPr>
            <a:r>
              <a:t>파일 → 검색 → 자동 리콜 → 백그라운드 통합 → 컨텍스트 조립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8B5C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7E8F9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 Light"/>
              </a:defRPr>
            </a:pPr>
            <a:r>
              <a:t>에이전트는 매 세션마다 기억을 잃는다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560320" cy="384048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4480" y="2560320"/>
            <a:ext cx="822960" cy="82296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세션 리셋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F0"/>
                </a:solidFill>
                <a:latin typeface="Segoe UI"/>
              </a:defRPr>
            </a:pPr>
            <a:r>
              <a:t>새 대화 시작하면 이전 컨텍스트 전부 사라짐.</a:t>
            </a:r>
            <a:br/>
            <a:r>
              <a:t>CLAUDE.md 200줄 한계로 담을 수 있는 정보가 제한적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286000"/>
            <a:ext cx="2560320" cy="384048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9120" y="2560320"/>
            <a:ext cx="822960" cy="8229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수동 기억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429768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F0"/>
                </a:solidFill>
                <a:latin typeface="Segoe UI"/>
              </a:defRPr>
            </a:pPr>
            <a:r>
              <a:t>"기억해"라고 직접 말해야 파일에 저장.</a:t>
            </a:r>
            <a:br/>
            <a:r>
              <a:t>에이전트가 스스로 판단해서 기억하지 못함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286000"/>
            <a:ext cx="2560320" cy="384048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23760" y="2560320"/>
            <a:ext cx="822960" cy="8229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검색 누락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29768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F0"/>
                </a:solidFill>
                <a:latin typeface="Segoe UI"/>
              </a:defRPr>
            </a:pPr>
            <a:r>
              <a:t>기억이 파일에 있어도 찾지 못하면 의미 없음.</a:t>
            </a:r>
            <a:br/>
            <a:r>
              <a:t>단순 키워드 검색으로는 맥락을 못 찾음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286000"/>
            <a:ext cx="2560320" cy="384048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0" y="2560320"/>
            <a:ext cx="822960" cy="82296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토큰 낭비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29768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F0"/>
                </a:solidFill>
                <a:latin typeface="Segoe UI"/>
              </a:defRPr>
            </a:pPr>
            <a:r>
              <a:t>컨텍스트 전체를 매번 복붙하면 연간 1,950만 토큰.</a:t>
            </a:r>
            <a:br/>
            <a:r>
              <a:t>비용 폭발 + 윈도우 한계 초과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 Light"/>
              </a:defRPr>
            </a:pPr>
            <a:r>
              <a:t>5개 레이어 메모리 아키텍처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</a:defRPr>
            </a:pPr>
            <a: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2011680"/>
            <a:ext cx="9601200" cy="73152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파일 기반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F0"/>
                </a:solidFill>
                <a:latin typeface="Segoe UI"/>
              </a:defRPr>
            </a:pPr>
            <a:r>
              <a:t>MEMORY.md + 일일노트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7E8F9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92608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</a:defRPr>
            </a:pPr>
            <a:r>
              <a:t>L2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2926080"/>
            <a:ext cx="9601200" cy="73152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3017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검색 엔진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175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F0"/>
                </a:solidFill>
                <a:latin typeface="Segoe UI"/>
              </a:defRPr>
            </a:pPr>
            <a:r>
              <a:t>BM25 + Vector 하이브리드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520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840480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</a:defRPr>
            </a:pPr>
            <a:r>
              <a:t>L3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3840480"/>
            <a:ext cx="9601200" cy="73152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3931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Active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9319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F0"/>
                </a:solidFill>
                <a:latin typeface="Segoe UI"/>
              </a:defRPr>
            </a:pPr>
            <a:r>
              <a:t>자동 리콜 (사용자 질문 전)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754880"/>
            <a:ext cx="640080" cy="6400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</a:defRPr>
            </a:pPr>
            <a:r>
              <a:t>L4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45920" y="4754880"/>
            <a:ext cx="9601200" cy="73152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0240" y="4846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Dreaming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846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F0"/>
                </a:solidFill>
                <a:latin typeface="Segoe UI"/>
              </a:defRPr>
            </a:pPr>
            <a:r>
              <a:t>백그라운드 통합 (수면)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349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5669280"/>
            <a:ext cx="640080" cy="64008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</a:defRPr>
            </a:pPr>
            <a:r>
              <a:t>L5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45920" y="5669280"/>
            <a:ext cx="9601200" cy="73152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5760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Context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7607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F0"/>
                </a:solidFill>
                <a:latin typeface="Segoe UI"/>
              </a:defRPr>
            </a:pPr>
            <a:r>
              <a:t>컨텍스트 조립 + Compaction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201168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2148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7E8F9"/>
                </a:solidFill>
                <a:latin typeface="Segoe UI"/>
              </a:defRPr>
            </a:pPr>
            <a:r>
              <a:t>💡 실전 의미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25603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F0"/>
                </a:solidFill>
                <a:latin typeface="Segoe UI"/>
              </a:defRPr>
            </a:pPr>
            <a:r>
              <a:t>각 레이어가 독립 작동</a:t>
            </a:r>
            <a:br/>
            <a:r>
              <a:t>→ 일부만 써도 OK</a:t>
            </a:r>
            <a:br/>
            <a:r>
              <a:t>→ 모두 켜면 인간처럼 기억</a:t>
            </a:r>
            <a:br/>
            <a:r>
              <a:t>→ 기본값만으로도 강력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3657600"/>
            <a:ext cx="45720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7E8F9"/>
                </a:solidFill>
                <a:latin typeface="Segoe UI"/>
              </a:defRPr>
            </a:pPr>
            <a:r>
              <a:t>LAYER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파일 기반 메모리 — 기본층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377440"/>
            <a:ext cx="548640" cy="54864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7E8F9"/>
                </a:solidFill>
                <a:latin typeface="Segoe UI"/>
              </a:defRPr>
            </a:pPr>
            <a:r>
              <a:t>MEMORY.md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장기 기억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520440"/>
            <a:ext cx="1371600" cy="381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7490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중요 사실, 결정, 선호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매 DM 세션 시작 시 자동 로딩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"기억해" → 자동 저장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에이전트의 큐레이티드 메모리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10312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3439" y="2377440"/>
            <a:ext cx="548640" cy="5486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59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Segoe UI"/>
              </a:defRPr>
            </a:pPr>
            <a:r>
              <a:t>memory/YYYY-MM-DD.md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일일 노트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79" y="3520440"/>
            <a:ext cx="13716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37490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당일 관찰, 대화 기록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오늘 + 어제 파일 자동 로딩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세션별 자연 발생 기록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Dreaming의 원료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598" y="210312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2478" y="2377440"/>
            <a:ext cx="548640" cy="5486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3998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Segoe UI"/>
              </a:defRPr>
            </a:pPr>
            <a:r>
              <a:t>DREAMS.md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8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꿈 일기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18" y="3520440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18" y="37490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Dreaming 시스템 출력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휴먼 리뷰용 (옵션)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승격 후보 + 반영 기록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투명한 메모리 관리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6309360"/>
            <a:ext cx="1069848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632764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E8F9"/>
                </a:solidFill>
                <a:latin typeface="Segoe UI"/>
              </a:defRPr>
            </a:pPr>
            <a:r>
              <a:t>💡 핵심: 마크다운 파일 = 메모리. 복잡한 DB 없이도 작동. 파일을 직접 열고 수정할 수 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8B5C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Segoe UI"/>
              </a:defRPr>
            </a:pPr>
            <a:r>
              <a:t>LAYER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검색 엔진 — 4종 백엔드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697480" cy="41148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2377440"/>
            <a:ext cx="822960" cy="82296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Builtin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7E8F9"/>
                </a:solidFill>
                <a:latin typeface="Segoe UI"/>
              </a:defRPr>
            </a:pPr>
            <a:r>
              <a:t>기본값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069080"/>
            <a:ext cx="1371600" cy="381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F0"/>
                </a:solidFill>
                <a:latin typeface="Segoe UI"/>
              </a:defRPr>
            </a:pPr>
            <a:r>
              <a:t>SQLite + FTS5(BM25)</a:t>
            </a:r>
            <a:br/>
            <a:r>
              <a:t>+ Vector 임베딩</a:t>
            </a:r>
            <a:br/>
            <a:r>
              <a:t>API 키 하나면 자동 활성</a:t>
            </a:r>
            <a:br/>
            <a:r>
              <a:t>CJK 트라이그램 지원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103120"/>
            <a:ext cx="2697480" cy="41148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51960" y="2377440"/>
            <a:ext cx="822960" cy="8229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3832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QMD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7490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78BFA"/>
                </a:solidFill>
                <a:latin typeface="Segoe UI"/>
              </a:defRPr>
            </a:pPr>
            <a:r>
              <a:t>로컬 고급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7640" y="4069080"/>
            <a:ext cx="13716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42976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F0"/>
                </a:solidFill>
                <a:latin typeface="Segoe UI"/>
              </a:defRPr>
            </a:pPr>
            <a:r>
              <a:t>Builtin + 리랭킹</a:t>
            </a:r>
            <a:br/>
            <a:r>
              <a:t>+ 쿼리 확장</a:t>
            </a:r>
            <a:br/>
            <a:r>
              <a:t>외부 디렉토리 인덱싱</a:t>
            </a:r>
            <a:br/>
            <a:r>
              <a:t>과거 대화 검색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103120"/>
            <a:ext cx="2697480" cy="41148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0" y="2377440"/>
            <a:ext cx="822960" cy="8229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3832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Honcho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490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4D399"/>
                </a:solidFill>
                <a:latin typeface="Segoe UI"/>
              </a:defRPr>
            </a:pPr>
            <a:r>
              <a:t>AI 네이티브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4069080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2976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F0"/>
                </a:solidFill>
                <a:latin typeface="Segoe UI"/>
              </a:defRPr>
            </a:pPr>
            <a:r>
              <a:t>자동 사용자 모델링</a:t>
            </a:r>
            <a:br/>
            <a:r>
              <a:t>멀티 에이전트 인식</a:t>
            </a:r>
            <a:br/>
            <a:r>
              <a:t>관찰(Observation) 기반</a:t>
            </a:r>
            <a:br/>
            <a:r>
              <a:t>크로스 세션 기억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2103120"/>
            <a:ext cx="2697480" cy="41148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2377440"/>
            <a:ext cx="822960" cy="8229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3832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LanceDB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7490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BBF24"/>
                </a:solidFill>
                <a:latin typeface="Segoe UI"/>
              </a:defRPr>
            </a:pPr>
            <a:r>
              <a:t>벡터 DB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38360" y="4069080"/>
            <a:ext cx="13716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42976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F0"/>
                </a:solidFill>
                <a:latin typeface="Segoe UI"/>
              </a:defRPr>
            </a:pPr>
            <a:r>
              <a:t>LanceDB 컬럼 스토어</a:t>
            </a:r>
            <a:br/>
            <a:r>
              <a:t>자동 리콜 + 자동 캡처</a:t>
            </a:r>
            <a:br/>
            <a:r>
              <a:t>Ollama 네이티브 지원</a:t>
            </a:r>
            <a:br/>
            <a:r>
              <a:t>S3 클라우드 저장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6309360"/>
            <a:ext cx="1069848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632764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78BFA"/>
                </a:solidFill>
                <a:latin typeface="Segoe UI"/>
              </a:defRPr>
            </a:pPr>
            <a:r>
              <a:t>💡 핵심: Builtin만으로도 BM25+Vector 하이브리드. QMD/Honcho/LanceDB는 선택적 업그레이드.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0" y="0"/>
            <a:ext cx="4572000" cy="4572000"/>
          </a:xfrm>
          <a:prstGeom prst="ellipse">
            <a:avLst/>
          </a:prstGeom>
          <a:solidFill>
            <a:srgbClr val="22D3E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Segoe UI"/>
              </a:defRPr>
            </a:pPr>
            <a:r>
              <a:t>LAYER 2 — DEEP 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하이브리드 검색이란?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1645920" cy="640080"/>
          </a:xfrm>
          <a:prstGeom prst="roundRect">
            <a:avLst>
              <a:gd name="adj" fmla="val 15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0F2D"/>
                </a:solidFill>
              </a:defRPr>
            </a:pPr>
            <a:r>
              <a:t>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423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0E0F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286000"/>
            <a:ext cx="1645920" cy="640080"/>
          </a:xfrm>
          <a:prstGeom prst="roundRect">
            <a:avLst>
              <a:gd name="adj" fmla="val 15000"/>
            </a:avLst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0F2D"/>
                </a:solidFill>
              </a:defRPr>
            </a:pPr>
            <a:r>
              <a:t>BM25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423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0E0F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2286000"/>
            <a:ext cx="1645920" cy="640080"/>
          </a:xfrm>
          <a:prstGeom prst="roundRect">
            <a:avLst>
              <a:gd name="adj" fmla="val 1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0F2D"/>
                </a:solidFill>
              </a:defRPr>
            </a:pPr>
            <a:r>
              <a:t>RRF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23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0E0F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286000"/>
            <a:ext cx="1645920" cy="640080"/>
          </a:xfrm>
          <a:prstGeom prst="roundRect">
            <a:avLst>
              <a:gd name="adj" fmla="val 1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0F2D"/>
                </a:solidFill>
              </a:defRPr>
            </a:pPr>
            <a:r>
              <a:t>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7E8F9"/>
                </a:solidFill>
                <a:latin typeface="Segoe UI"/>
              </a:defRPr>
            </a:pPr>
            <a:r>
              <a:t>키워드 매칭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474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정확한 함수명,</a:t>
            </a:r>
            <a:br/>
            <a:r>
              <a:t>에러 문자열, 설정 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5029200" cy="256032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7763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Segoe UI"/>
              </a:defRPr>
            </a:pPr>
            <a:r>
              <a:t>Vector (의미 검색)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"데이터베이스 성능 최적화" → N+1 쿼리 수정 기록 찾음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단어가 달라도 의미가 같으면 매칭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8개 임베딩 프로바이더 (OpenAI, Gemini, Ollama 등)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API 키만 있으면 자동 감지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840480"/>
            <a:ext cx="5029200" cy="256032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97763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7E8F9"/>
                </a:solidFill>
                <a:latin typeface="Segoe UI"/>
              </a:defRPr>
            </a:pPr>
            <a:r>
              <a:t>검색 품질 튜닝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3891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시간 감쇠 (Temporal Decay) — 최근 정보 우선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MMR 다양성 — 중복 결과 제거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CJK 트라이그램 — 한중일 자연어 처리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청크 분할 (~400토큰, 80토큰 오버랩)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1828800"/>
            <a:ext cx="3657600" cy="3657600"/>
          </a:xfrm>
          <a:prstGeom prst="ellipse">
            <a:avLst/>
          </a:prstGeom>
          <a:solidFill>
            <a:srgbClr val="8B5C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Segoe UI"/>
              </a:defRPr>
            </a:pPr>
            <a:r>
              <a:t>BACKEND — QMD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QMD — 로컬 검색 사이드카 (by Tobi)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Builtin 위에 추가되는 것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18288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7E8F9"/>
                </a:solidFill>
                <a:latin typeface="Segoe UI"/>
              </a:defRPr>
            </a:pPr>
            <a:r>
              <a:t>리랭킹 (Reranking)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1차 검색 → 후보 추출 → 별도 모델로 재평가</a:t>
            </a:r>
            <a:br/>
            <a:r>
              <a:t>"정확도가 높은 결과가 위로"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7E8F9"/>
                </a:solidFill>
                <a:latin typeface="Segoe UI"/>
              </a:defRPr>
            </a:pPr>
            <a:r>
              <a:t>쿼리 확장 (Query Expansion)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86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"인증" → JWT, OAuth, 미들웨어까지 자동 확장</a:t>
            </a:r>
            <a:br/>
            <a:r>
              <a:t>연관 쿼리를 생성해서 더 넓게 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7E8F9"/>
                </a:solidFill>
                <a:latin typeface="Segoe UI"/>
              </a:defRPr>
            </a:pPr>
            <a:r>
              <a:t>외부 디렉토리 인덱싱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~/notes, ~/projects 등 워크스페이스 밖도 검색</a:t>
            </a:r>
            <a:br/>
            <a:r>
              <a:t>Builtin은 절대 못 하는 기능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663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7E8F9"/>
                </a:solidFill>
                <a:latin typeface="Segoe UI"/>
              </a:defRPr>
            </a:pPr>
            <a:r>
              <a:t>과거 대화 인덱싱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세션 트랜스크립트를 검색 가능하게 변환</a:t>
            </a:r>
            <a:br/>
            <a:r>
              <a:t>"저번 달에 뭐라고 했더라?" 가능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7E8F9"/>
                </a:solidFill>
                <a:latin typeface="Segoe UI"/>
              </a:defRPr>
            </a:pPr>
            <a:r>
              <a:t>완전 로컬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217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GGUF 모델 자동 다운로드 (~2GB)</a:t>
            </a:r>
            <a:br/>
            <a:r>
              <a:t>API 키 불필요, 인터넷 없이도 작동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103120"/>
            <a:ext cx="5212080" cy="438912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240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실전 의미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651760"/>
            <a:ext cx="18288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9260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✅ API 키 안 쓰고 완전 로컬로 검색하고 싶을 때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✅ 검색 정확도가 중요한 프로젝트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✅ 과거 대화 내용을 다시 찾아야 할 때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✅ 워크스페이스 밖 파일도 검색 범위에 포함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⚠️ 첫 실행 시 GGUF 모델 다운로드로 느림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⚠️ 별도 바이너리 설치 필요 (npm/bun)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🛡️ QMD가 죽으면 자동으로 Builtin 폴백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   → 에이전트는 계속 정상 작동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22D3E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BACKEND — HONCHO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Honcho — AI가 사용자를 이해하는 메모리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근본적 차이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F0"/>
                </a:solidFill>
                <a:latin typeface="Segoe UI"/>
              </a:defRPr>
            </a:pPr>
            <a:r>
              <a:t>다른 백엔드: 파일 → 청크 → 인덱스 (검색 중심)</a:t>
            </a:r>
            <a:br/>
            <a:br/>
            <a:r>
              <a:t>Honcho: 대화 전체를 관찰 → 사용자 모델링</a:t>
            </a:r>
            <a:br/>
            <a:r>
              <a:t>"이 사람은 TypeScript를 선호하는구나"를 자동 학습</a:t>
            </a:r>
            <a:br/>
            <a:r>
              <a:t>"기억해"라고 안 해도 알아서 기억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7E8F9"/>
                </a:solidFill>
                <a:latin typeface="Segoe UI"/>
              </a:defRPr>
            </a:pPr>
            <a:r>
              <a:t>6개 도구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빠른 조회 (LLM 없음):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  honcho_context / search_conclusions / search_messages / session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LLM 기반 (더 깊은 이해):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  honcho_ask (quick=사실, thorough=종합분석)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09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Segoe UI"/>
              </a:defRPr>
            </a:pPr>
            <a:r>
              <a:t>멀티 에이전트 인식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부모 에이전트가 자식 에이전트를 자동 추적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채널/세션 경계 없이 동일한 사용자 컨텍스트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Telegram, Discord, 웹 — 어디서든 같은 기억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로컬 셀프호스팅 또는 매니지드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709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7185"/>
                </a:solidFill>
                <a:latin typeface="Segoe UI"/>
              </a:defRPr>
            </a:pPr>
            <a:r>
              <a:t>실전 의미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1206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✅ "기억해" 안 해도 자동으로 사용자를 이해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✅ 여러 채널에서 동일한 컨텍스트 유지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✅ 에이전트가 선호/스타일을 학습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⚠️ 플러그인 설치 + 별도 서버 필요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3657600"/>
            <a:ext cx="3657600" cy="3657600"/>
          </a:xfrm>
          <a:prstGeom prst="ellipse">
            <a:avLst/>
          </a:prstGeom>
          <a:solidFill>
            <a:srgbClr val="8B5C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Segoe UI"/>
              </a:defRPr>
            </a:pPr>
            <a:r>
              <a:t>BACKEND — LANCEDB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LanceDB — 자동 리콜/캡처 로컬 벡터 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Segoe UI"/>
              </a:defRPr>
            </a:pPr>
            <a:r>
              <a:t>핵심 기능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18288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Segoe UI"/>
              </a:defRPr>
            </a:pPr>
            <a:r>
              <a:t>autoRecall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834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매 턴 전에 사용자 메시지를 쿼리로 임베딩</a:t>
            </a:r>
            <a:br/>
            <a:r>
              <a:t>→ LanceDB에서 유사한 기억 찾기 → 컨텍스트에 주입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Segoe UI"/>
              </a:defRPr>
            </a:pPr>
            <a:r>
              <a:t>autoCapture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611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매 턴 후에 어시스턴트 응답이 기준 이하면</a:t>
            </a:r>
            <a:br/>
            <a:r>
              <a:t>→ 자동으로 LanceDB에 저장 ("기억해" 불필요)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Segoe UI"/>
              </a:defRPr>
            </a:pPr>
            <a:r>
              <a:t>Ollama 네이티브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3891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/api/embed 직접 호출 — 완전 로컬, 무료</a:t>
            </a:r>
            <a:br/>
            <a:r>
              <a:t>mxbai-embed-large 등 로컬 모델 사용 가능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66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Segoe UI"/>
              </a:defRPr>
            </a:pPr>
            <a:r>
              <a:t>S3 클라우드 저장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51663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dbPath를 s3://로 설정 → 여러 기기에서</a:t>
            </a:r>
            <a:br/>
            <a:r>
              <a:t>같은 메모리 공유 (멀티 디바이스 동기화)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103120"/>
            <a:ext cx="5212080" cy="201168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240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7E8F9"/>
                </a:solidFill>
                <a:latin typeface="Segoe UI"/>
              </a:defRPr>
            </a:pPr>
            <a:r>
              <a:t>에이전트 도구 3개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65176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0E0F0"/>
                </a:solidFill>
                <a:latin typeface="Segoe UI"/>
              </a:defRPr>
            </a:pPr>
            <a:r>
              <a:t>memory_recall — 관련 기억 검색</a:t>
            </a:r>
          </a:p>
          <a:p>
            <a:pPr>
              <a:spcAft>
                <a:spcPts val="600"/>
              </a:spcAft>
              <a:defRPr sz="1200">
                <a:solidFill>
                  <a:srgbClr val="E0E0F0"/>
                </a:solidFill>
                <a:latin typeface="Segoe UI"/>
              </a:defRPr>
            </a:pPr>
            <a:r>
              <a:t>memory_store — 사실/선호/결정/엔티티 저장</a:t>
            </a:r>
          </a:p>
          <a:p>
            <a:pPr>
              <a:spcAft>
                <a:spcPts val="600"/>
              </a:spcAft>
              <a:defRPr sz="1200">
                <a:solidFill>
                  <a:srgbClr val="E0E0F0"/>
                </a:solidFill>
                <a:latin typeface="Segoe UI"/>
              </a:defRPr>
            </a:pPr>
            <a:r>
              <a:t>memory_forget — 매칭되는 기억 삭제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389120"/>
            <a:ext cx="5212080" cy="210312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526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Builtin vs LanceDB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93776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Builtin: 수동 검색 (memory_search 직접 호출)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LanceDB: 자동 리콜 + 자동 캡처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Builtin: SQLite (단일 기기)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LanceDB: S3 저장 (멀티 기기 동기화)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0" y="-914400"/>
            <a:ext cx="45720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LAYER 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Active Memory — 질문하기 전에 기억 찾기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560320" cy="128016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2240280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2860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사용자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BBF2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103120"/>
            <a:ext cx="2560320" cy="128016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66160" y="224028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2860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차단 서브에이전트</a:t>
            </a:r>
            <a:br/>
            <a:r>
              <a:t>메모리 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78BF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103120"/>
            <a:ext cx="2560320" cy="128016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224028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2860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관련 기억 발견?</a:t>
            </a:r>
            <a:br/>
            <a:r>
              <a:t>YES → 숨겨서 주입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D399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2103120"/>
            <a:ext cx="2560320" cy="128016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0" y="2240280"/>
            <a:ext cx="457200" cy="45720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22860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메인 에이전트</a:t>
            </a:r>
            <a:br/>
            <a:r>
              <a:t>자연스럽게 기억 활용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4048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9776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7E8F9"/>
                </a:solidFill>
                <a:latin typeface="Segoe UI"/>
              </a:defRPr>
            </a:pPr>
            <a:r>
              <a:t>쿼리 모드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3891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message — 마지막 메시지만 (빠름)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recent — 최근 대화 꼬리 포함 (균형)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full — 전체 대화 (정확, 느림)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84048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9776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프롬프트 스타일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3891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strict — 엄격하게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balanced — 균형 (기본값)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recall-heavy — 리콜 우선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preference-only — 선호만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84048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9776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실전 의미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3891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✅ 에이전트가 기억을 먼저 찾음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✅ 사용자는 "기억해" 안 해도 됨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✅ 대화에 자연스럽게 녹아듦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⚠️ 전용 모델 권장 (속도)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8B5C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Segoe UI"/>
              </a:defRPr>
            </a:pPr>
            <a:r>
              <a:t>LAYER 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Dreaming — 백그라운드 메모리 통합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566160" cy="32004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2286000"/>
            <a:ext cx="822960" cy="82296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Light Sleep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7E8F9"/>
                </a:solidFill>
                <a:latin typeface="Segoe UI"/>
              </a:defRPr>
            </a:pPr>
            <a:r>
              <a:t>정리 / 스테이징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3977639"/>
            <a:ext cx="1828800" cy="381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E0E0F0"/>
                </a:solidFill>
                <a:latin typeface="Segoe UI"/>
              </a:defRPr>
            </a:pPr>
            <a:r>
              <a:t>• 최근 단기 기억 정리</a:t>
            </a:r>
          </a:p>
          <a:p>
            <a:pPr>
              <a:spcAft>
                <a:spcPts val="600"/>
              </a:spcAft>
              <a:defRPr sz="1000">
                <a:solidFill>
                  <a:srgbClr val="E0E0F0"/>
                </a:solidFill>
                <a:latin typeface="Segoe UI"/>
              </a:defRPr>
            </a:pPr>
            <a:r>
              <a:t>• 후보 스테이징 (임시)</a:t>
            </a:r>
          </a:p>
          <a:p>
            <a:pPr>
              <a:spcAft>
                <a:spcPts val="600"/>
              </a:spcAft>
              <a:defRPr sz="1000">
                <a:solidFill>
                  <a:srgbClr val="E0E0F0"/>
                </a:solidFill>
                <a:latin typeface="Segoe UI"/>
              </a:defRPr>
            </a:pPr>
            <a:r>
              <a:t>• 강화 시그널 기록</a:t>
            </a:r>
          </a:p>
          <a:p>
            <a:pPr>
              <a:spcAft>
                <a:spcPts val="600"/>
              </a:spcAft>
              <a:defRPr sz="1000">
                <a:solidFill>
                  <a:srgbClr val="E0E0F0"/>
                </a:solidFill>
                <a:latin typeface="Segoe UI"/>
              </a:defRPr>
            </a:pPr>
            <a:r>
              <a:t>• MEMORY.md에 안 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03120"/>
            <a:ext cx="3566160" cy="32004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23560" y="2286000"/>
            <a:ext cx="822960" cy="8229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Deep Sleep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78BFA"/>
                </a:solidFill>
                <a:latin typeface="Segoe UI"/>
              </a:defRPr>
            </a:pPr>
            <a:r>
              <a:t>평가 / 승격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3977639"/>
            <a:ext cx="18288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41148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E0E0F0"/>
                </a:solidFill>
                <a:latin typeface="Segoe UI"/>
              </a:defRPr>
            </a:pPr>
            <a:r>
              <a:t>• 6개 시그널로 점수 매김</a:t>
            </a:r>
          </a:p>
          <a:p>
            <a:pPr>
              <a:spcAft>
                <a:spcPts val="600"/>
              </a:spcAft>
              <a:defRPr sz="1000">
                <a:solidFill>
                  <a:srgbClr val="E0E0F0"/>
                </a:solidFill>
                <a:latin typeface="Segoe UI"/>
              </a:defRPr>
            </a:pPr>
            <a:r>
              <a:t>• 3개 게이트 통과해야 승격</a:t>
            </a:r>
          </a:p>
          <a:p>
            <a:pPr>
              <a:spcAft>
                <a:spcPts val="600"/>
              </a:spcAft>
              <a:defRPr sz="1000">
                <a:solidFill>
                  <a:srgbClr val="E0E0F0"/>
                </a:solidFill>
                <a:latin typeface="Segoe UI"/>
              </a:defRPr>
            </a:pPr>
            <a:r>
              <a:t>• MEMORY.md에 실제로 기록</a:t>
            </a:r>
          </a:p>
          <a:p>
            <a:pPr>
              <a:spcAft>
                <a:spcPts val="600"/>
              </a:spcAft>
              <a:defRPr sz="1000">
                <a:solidFill>
                  <a:srgbClr val="E0E0F0"/>
                </a:solidFill>
                <a:latin typeface="Segoe UI"/>
              </a:defRPr>
            </a:pPr>
            <a:r>
              <a:t>• 아무거나 다 저장하는 게 아님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103120"/>
            <a:ext cx="3566160" cy="32004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18320" y="2286000"/>
            <a:ext cx="822960" cy="8229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REM Sleep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4D399"/>
                </a:solidFill>
                <a:latin typeface="Segoe UI"/>
              </a:defRPr>
            </a:pPr>
            <a:r>
              <a:t>반영 / 메타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3977639"/>
            <a:ext cx="18288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41148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E0E0F0"/>
                </a:solidFill>
                <a:latin typeface="Segoe UI"/>
              </a:defRPr>
            </a:pPr>
            <a:r>
              <a:t>• 패턴과 주제 추출</a:t>
            </a:r>
          </a:p>
          <a:p>
            <a:pPr>
              <a:spcAft>
                <a:spcPts val="600"/>
              </a:spcAft>
              <a:defRPr sz="1000">
                <a:solidFill>
                  <a:srgbClr val="E0E0F0"/>
                </a:solidFill>
                <a:latin typeface="Segoe UI"/>
              </a:defRPr>
            </a:pPr>
            <a:r>
              <a:t>• 반영 시그널 기록</a:t>
            </a:r>
          </a:p>
          <a:p>
            <a:pPr>
              <a:spcAft>
                <a:spcPts val="600"/>
              </a:spcAft>
              <a:defRPr sz="1000">
                <a:solidFill>
                  <a:srgbClr val="E0E0F0"/>
                </a:solidFill>
                <a:latin typeface="Segoe UI"/>
              </a:defRPr>
            </a:pPr>
            <a:r>
              <a:t>• Deep 랭킹에 피드백</a:t>
            </a:r>
          </a:p>
          <a:p>
            <a:pPr>
              <a:spcAft>
                <a:spcPts val="600"/>
              </a:spcAft>
              <a:defRPr sz="1000">
                <a:solidFill>
                  <a:srgbClr val="E0E0F0"/>
                </a:solidFill>
                <a:latin typeface="Segoe UI"/>
              </a:defRPr>
            </a:pPr>
            <a:r>
              <a:t>• MEMORY.md에 안 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486400"/>
            <a:ext cx="6858000" cy="118872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57784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Deep 랭킹 6개 시그널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989320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0F2D"/>
                </a:solidFill>
              </a:defRPr>
            </a:pPr>
            <a:r>
              <a:t>빈도 24%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28800" y="5989320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0F2D"/>
                </a:solidFill>
              </a:defRPr>
            </a:pPr>
            <a:r>
              <a:t>관련성 30%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6080" y="5989320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0F2D"/>
                </a:solidFill>
              </a:defRPr>
            </a:pPr>
            <a:r>
              <a:t>쿼리 다양성 15%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23360" y="5989320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0F2D"/>
                </a:solidFill>
              </a:defRPr>
            </a:pPr>
            <a:r>
              <a:t>최신성 15%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20640" y="5989320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0F2D"/>
                </a:solidFill>
              </a:defRPr>
            </a:pPr>
            <a:r>
              <a:t>통합 강도 10%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5989320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0F2D"/>
                </a:solidFill>
              </a:defRPr>
            </a:pPr>
            <a:r>
              <a:t>개념 풍부도 6%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5486400"/>
            <a:ext cx="3931920" cy="118872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55778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Segoe UI"/>
              </a:defRPr>
            </a:pPr>
            <a:r>
              <a:t>💡 기본 비활성화, 옵트인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58978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매일 새벽 3시 자동 실행</a:t>
            </a:r>
            <a:br/>
            <a:r>
              <a:t>DREAMS.md에서 사람이 리뷰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8B5C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7185"/>
                </a:solidFill>
                <a:latin typeface="Segoe UI"/>
              </a:defRPr>
            </a:pPr>
            <a:r>
              <a:t>LAYER 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Context Engine + Compaction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2286000"/>
            <a:ext cx="731520" cy="73152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</a:defRPr>
            </a:pPr>
            <a: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7E8F9"/>
                </a:solidFill>
                <a:latin typeface="Segoe UI"/>
              </a:defRPr>
            </a:pPr>
            <a:r>
              <a:t>ingest()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메시지 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새 메시지가 들어오면</a:t>
            </a:r>
            <a:br/>
            <a:r>
              <a:t>엔진이 자체 저장소에 저장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10312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51960" y="2286000"/>
            <a:ext cx="731520" cy="7315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Segoe UI"/>
              </a:defRPr>
            </a:pPr>
            <a:r>
              <a:t>assemble()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컨텍스트 조립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886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토큰 예산 내에서</a:t>
            </a:r>
            <a:br/>
            <a:r>
              <a:t>모델이 볼 메시지를 조립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10312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32320" y="2286000"/>
            <a:ext cx="731520" cy="7315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  <a:latin typeface="Segoe UI"/>
              </a:defRPr>
            </a:pPr>
            <a:r>
              <a:t>compact()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압축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86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대화가 길어지면</a:t>
            </a:r>
            <a:br/>
            <a:r>
              <a:t>오래된 내용을 요약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210312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12680" y="228600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  <a:latin typeface="Segoe UI"/>
              </a:defRPr>
            </a:pPr>
            <a:r>
              <a:t>afterTurn()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후처리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886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실행 후 상태 업데이트</a:t>
            </a:r>
            <a:br/>
            <a:r>
              <a:t>백그라운드 작업 트리거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754880"/>
            <a:ext cx="5303520" cy="192024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892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7185"/>
                </a:solidFill>
                <a:latin typeface="Segoe UI"/>
              </a:defRPr>
            </a:pPr>
            <a:r>
              <a:t>Compaction (자동 압축)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0352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1️⃣ 컨텍스트 한계 근접 → "중요한 거 파일에 저장해" 자동提醒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2️⃣ 오래된 대화를 요약으로 압축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3️⃣ 최근 메시지는 그대로 보존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4️⃣ 전체 기록은 디스크에 그대로 (검색 가능)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754880"/>
            <a:ext cx="5303520" cy="192024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892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7E8F9"/>
                </a:solidFill>
                <a:latin typeface="Segoe UI"/>
              </a:defRPr>
            </a:pPr>
            <a:r>
              <a:t>플러그인 교체 가능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30352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기본: legacy 엔진 (OpenClaw 내장)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대체: lossless-claw 등 서드파티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컨텍스트 조립 방식을 완전히 커스텀 가능</a:t>
            </a:r>
          </a:p>
          <a:p>
            <a:pPr>
              <a:spcAft>
                <a:spcPts val="6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DAG 요약, 벡터 검색 기반 등 자유로운 전략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0" y="2743200"/>
            <a:ext cx="4572000" cy="4572000"/>
          </a:xfrm>
          <a:prstGeom prst="ellipse">
            <a:avLst/>
          </a:prstGeom>
          <a:solidFill>
            <a:srgbClr val="22D3EE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7E8F9"/>
                </a:solidFill>
                <a:latin typeface="Segoe UI"/>
              </a:defRPr>
            </a:pPr>
            <a:r>
              <a:t>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4개 백엔드 비교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463040" cy="457200"/>
          </a:xfrm>
          <a:prstGeom prst="roundRect">
            <a:avLst>
              <a:gd name="adj" fmla="val 5000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848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0E0F0"/>
                </a:solidFill>
                <a:latin typeface="Segoe U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2011680" y="2011680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20848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7E8F9"/>
                </a:solidFill>
                <a:latin typeface="Segoe UI"/>
              </a:defRPr>
            </a:pPr>
            <a:r>
              <a:t>Builtin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011680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0848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7E8F9"/>
                </a:solidFill>
                <a:latin typeface="Segoe UI"/>
              </a:defRPr>
            </a:pPr>
            <a:r>
              <a:t>QMD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848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7E8F9"/>
                </a:solidFill>
                <a:latin typeface="Segoe UI"/>
              </a:defRPr>
            </a:pPr>
            <a:r>
              <a:t>Honcho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2011680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20848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7E8F9"/>
                </a:solidFill>
                <a:latin typeface="Segoe UI"/>
              </a:defRPr>
            </a:pPr>
            <a:r>
              <a:t>LanceDB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51460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5603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검색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251460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57400" y="25603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BM25+Vector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51460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25603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+리랭크</a:t>
            </a:r>
            <a:br/>
            <a:r>
              <a:t>+쿼리확장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51460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5603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의미 검색</a:t>
            </a:r>
            <a:br/>
            <a:r>
              <a:t>(관찰 기반)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251460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25603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Vector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06324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1089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자동 리콜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11680" y="306324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57400" y="31089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306324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60" y="31089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06324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1089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✅ (프로파일)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5360" y="306324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1080" y="31089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361188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36576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자동 캡처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361188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36576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06240" y="361188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51960" y="36576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361188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36576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✅ (관찰)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95360" y="361188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41080" y="36576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✅ (옵션)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16052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42062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사용자 모델링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11680" y="416052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4206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06240" y="416052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51960" y="4206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416052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4206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✅ 자동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95360" y="416052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41080" y="4206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470916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" y="47548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과거 대화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011680" y="470916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57400" y="47548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206240" y="470916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51960" y="47548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0" y="470916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6520" y="47548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595360" y="470916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41080" y="47548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8640" y="525780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4360" y="5303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외부 디렉토리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011680" y="525780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53035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206240" y="525780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51960" y="53035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400800" y="525780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46520" y="53035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595360" y="525780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641080" y="53035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48640" y="580644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94360" y="58521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API 키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011680" y="580644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57400" y="5852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필요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206240" y="580644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251960" y="5852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불필요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00800" y="580644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46520" y="5852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선택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595360" y="580644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641080" y="5852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선택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48640" y="635508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94360" y="6400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클라우드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011680" y="635508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57400" y="6400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206240" y="635508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251960" y="6400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400800" y="635508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46520" y="6400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✅ (매니지드)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595360" y="635508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641080" y="6400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F0"/>
                </a:solidFill>
                <a:latin typeface="Segoe UI"/>
              </a:defRPr>
            </a:pPr>
            <a:r>
              <a:t>✅ (S3)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8B5C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22D3E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PRACTICAL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어떤 조합을 쓸까?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3566160" cy="41148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🟢 기본 (0분 설정)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F0"/>
                </a:solidFill>
                <a:latin typeface="Segoe UI"/>
              </a:defRPr>
            </a:pPr>
            <a:r>
              <a:t>Builtin만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54680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API 키 하나로 하이브리드 검색 자동 활성</a:t>
            </a:r>
          </a:p>
          <a:p>
            <a:pPr>
              <a:spcAft>
                <a:spcPts val="10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MEMORY.md + 일일 노트로 충분</a:t>
            </a:r>
          </a:p>
          <a:p>
            <a:pPr>
              <a:spcAft>
                <a:spcPts val="10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대부분의 사용자가 여기서 만족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03120"/>
            <a:ext cx="3566160" cy="41148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Segoe UI"/>
              </a:defRPr>
            </a:pPr>
            <a:r>
              <a:t>🟡 중급 (10분 설정)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834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F0"/>
                </a:solidFill>
                <a:latin typeface="Segoe UI"/>
              </a:defRPr>
            </a:pPr>
            <a:r>
              <a:t>Builtin + Active Memory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3154680"/>
            <a:ext cx="13716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338328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자동 리콜 활성화 → "기억해" 안 해도 됨</a:t>
            </a:r>
          </a:p>
          <a:p>
            <a:pPr>
              <a:spcAft>
                <a:spcPts val="10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빠른 모델 권장 (gemini-flash 등)</a:t>
            </a:r>
          </a:p>
          <a:p>
            <a:pPr>
              <a:spcAft>
                <a:spcPts val="10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개인 어시스턴트로 충분한 수준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103120"/>
            <a:ext cx="3566160" cy="41148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7185"/>
                </a:solidFill>
                <a:latin typeface="Segoe UI"/>
              </a:defRPr>
            </a:pPr>
            <a:r>
              <a:t>🔴 고급 (30분 설정)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834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F0"/>
                </a:solidFill>
                <a:latin typeface="Segoe UI"/>
              </a:defRPr>
            </a:pPr>
            <a:r>
              <a:t>QMD/Honcho/LanceDB + Dreaming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3154680"/>
            <a:ext cx="137160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38328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QMD: 완전 로컬 + 과거 대화 검색</a:t>
            </a:r>
          </a:p>
          <a:p>
            <a:pPr>
              <a:spcAft>
                <a:spcPts val="10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Honcho: 자동 사용자 모델링</a:t>
            </a:r>
          </a:p>
          <a:p>
            <a:pPr>
              <a:spcAft>
                <a:spcPts val="10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LanceDB: 자동 리콜/캡처 + S3 동기화</a:t>
            </a:r>
          </a:p>
          <a:p>
            <a:pPr>
              <a:spcAft>
                <a:spcPts val="1000"/>
              </a:spcAft>
              <a:defRPr sz="1100">
                <a:solidFill>
                  <a:srgbClr val="E0E0F0"/>
                </a:solidFill>
                <a:latin typeface="Segoe UI"/>
              </a:defRPr>
            </a:pPr>
            <a:r>
              <a:t>• Dreaming: 백그라운드 통합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4572000" cy="4572000"/>
          </a:xfrm>
          <a:prstGeom prst="ellipse">
            <a:avLst/>
          </a:prstGeom>
          <a:solidFill>
            <a:srgbClr val="8B5C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1371600"/>
            <a:ext cx="7619695" cy="4114800"/>
          </a:xfrm>
          <a:prstGeom prst="roundRect">
            <a:avLst>
              <a:gd name="adj" fmla="val 5000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1828800"/>
            <a:ext cx="6705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 Light"/>
              </a:defRPr>
            </a:pPr>
            <a:r>
              <a:t>기억하는 에이전트, 기억하지 않는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834640"/>
            <a:ext cx="2133295" cy="381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3200400"/>
            <a:ext cx="6705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7E8F9"/>
                </a:solidFill>
                <a:latin typeface="Segoe UI"/>
              </a:defRPr>
            </a:pPr>
            <a:r>
              <a:t>차이는 사용자 경험 전부입니다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114800"/>
            <a:ext cx="6705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F0"/>
                </a:solidFill>
                <a:latin typeface="Segoe UI"/>
              </a:defRPr>
            </a:pPr>
            <a:r>
              <a:t>OpenClaw는 5개 레이어로 이 차이를 메웁니다</a:t>
            </a:r>
            <a:br/>
            <a:r>
              <a:t>기본 설정만으로도 강력하고, 모두 켜면 인간처럼 기억합니다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